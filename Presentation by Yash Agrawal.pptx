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2" r:id="rId14"/>
    <p:sldId id="273" r:id="rId15"/>
    <p:sldId id="274" r:id="rId16"/>
    <p:sldId id="275" r:id="rId17"/>
    <p:sldId id="276" r:id="rId18"/>
    <p:sldId id="270" r:id="rId19"/>
    <p:sldId id="27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p:cViewPr varScale="1">
        <p:scale>
          <a:sx n="91" d="100"/>
          <a:sy n="91" d="100"/>
        </p:scale>
        <p:origin x="-996"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275467-BED9-43D3-A10E-88B9354743BC}" type="datetimeFigureOut">
              <a:rPr lang="en-US" smtClean="0"/>
              <a:pPr/>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967CC-B505-43F0-92C8-D37CE26A323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275467-BED9-43D3-A10E-88B9354743BC}" type="datetimeFigureOut">
              <a:rPr lang="en-US" smtClean="0"/>
              <a:pPr/>
              <a:t>12/15/2021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967CC-B505-43F0-92C8-D37CE26A323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99" y="139889"/>
            <a:ext cx="8229600" cy="6578222"/>
          </a:xfrm>
        </p:spPr>
        <p:txBody>
          <a:bodyPr>
            <a:normAutofit fontScale="90000"/>
          </a:bodyPr>
          <a:lstStyle/>
          <a:p>
            <a:r>
              <a:rPr lang="en-US" dirty="0"/>
              <a:t/>
            </a:r>
            <a:br>
              <a:rPr lang="en-US" dirty="0"/>
            </a:br>
            <a:r>
              <a:rPr lang="en-US" dirty="0"/>
              <a:t/>
            </a:r>
            <a:br>
              <a:rPr lang="en-US" dirty="0"/>
            </a:br>
            <a:r>
              <a:rPr lang="en-US" dirty="0"/>
              <a:t/>
            </a:r>
            <a:br>
              <a:rPr lang="en-US" dirty="0"/>
            </a:br>
            <a:r>
              <a:rPr lang="en-US" b="1" dirty="0">
                <a:latin typeface="Times New Roman" pitchFamily="18" charset="0"/>
                <a:cs typeface="Times New Roman" pitchFamily="18" charset="0"/>
              </a:rPr>
              <a:t>Industrial Training</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at</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MyCaptain</a:t>
            </a:r>
            <a:r>
              <a:rPr lang="en-US" dirty="0"/>
              <a:t/>
            </a:r>
            <a:br>
              <a:rPr lang="en-US" dirty="0"/>
            </a:br>
            <a:r>
              <a:rPr lang="en-US" dirty="0"/>
              <a:t/>
            </a:r>
            <a:br>
              <a:rPr lang="en-US" dirty="0"/>
            </a:br>
            <a:r>
              <a:rPr lang="en-US" dirty="0"/>
              <a:t/>
            </a:r>
            <a:br>
              <a:rPr lang="en-US" dirty="0"/>
            </a:br>
            <a:r>
              <a:rPr lang="en-US" dirty="0"/>
              <a:t/>
            </a:r>
            <a:br>
              <a:rPr lang="en-US" dirty="0"/>
            </a:br>
            <a:r>
              <a:rPr lang="en-US" sz="4900" b="1" dirty="0"/>
              <a:t>                                          </a:t>
            </a:r>
            <a:r>
              <a:rPr lang="en-US" sz="3100" b="1" dirty="0">
                <a:latin typeface="Times New Roman" pitchFamily="18" charset="0"/>
                <a:cs typeface="Times New Roman" pitchFamily="18" charset="0"/>
              </a:rPr>
              <a:t>Presented By:</a:t>
            </a:r>
            <a:br>
              <a:rPr lang="en-US" sz="3100" b="1" dirty="0">
                <a:latin typeface="Times New Roman" pitchFamily="18" charset="0"/>
                <a:cs typeface="Times New Roman" pitchFamily="18" charset="0"/>
              </a:rPr>
            </a:br>
            <a:r>
              <a:rPr lang="en-US" sz="3100" b="1" dirty="0">
                <a:latin typeface="Times New Roman" pitchFamily="18" charset="0"/>
                <a:cs typeface="Times New Roman" pitchFamily="18" charset="0"/>
              </a:rPr>
              <a:t>                                                           Yash Agrawal                                          </a:t>
            </a:r>
            <a:r>
              <a:rPr lang="en-US" sz="4900" dirty="0"/>
              <a:t/>
            </a:r>
            <a:br>
              <a:rPr lang="en-US" sz="4900" dirty="0"/>
            </a:br>
            <a:endParaRPr lang="en-US" dirty="0"/>
          </a:p>
        </p:txBody>
      </p:sp>
      <p:pic>
        <p:nvPicPr>
          <p:cNvPr id="6" name="Picture 5" descr="ftr-logo.png"/>
          <p:cNvPicPr>
            <a:picLocks noChangeAspect="1"/>
          </p:cNvPicPr>
          <p:nvPr/>
        </p:nvPicPr>
        <p:blipFill>
          <a:blip r:embed="rId2"/>
          <a:stretch>
            <a:fillRect/>
          </a:stretch>
        </p:blipFill>
        <p:spPr>
          <a:xfrm>
            <a:off x="571472" y="0"/>
            <a:ext cx="2357454" cy="1772816"/>
          </a:xfrm>
          <a:prstGeom prst="rect">
            <a:avLst/>
          </a:prstGeom>
        </p:spPr>
      </p:pic>
      <p:pic>
        <p:nvPicPr>
          <p:cNvPr id="7" name="Picture 6" descr="download.png"/>
          <p:cNvPicPr>
            <a:picLocks noChangeAspect="1"/>
          </p:cNvPicPr>
          <p:nvPr/>
        </p:nvPicPr>
        <p:blipFill>
          <a:blip r:embed="rId3"/>
          <a:stretch>
            <a:fillRect/>
          </a:stretch>
        </p:blipFill>
        <p:spPr>
          <a:xfrm>
            <a:off x="7728735" y="357166"/>
            <a:ext cx="922966" cy="786230"/>
          </a:xfrm>
          <a:prstGeom prst="rect">
            <a:avLst/>
          </a:prstGeom>
        </p:spPr>
      </p:pic>
      <p:pic>
        <p:nvPicPr>
          <p:cNvPr id="8" name="Picture 7" descr="Form_Header_2021.png"/>
          <p:cNvPicPr>
            <a:picLocks noChangeAspect="1"/>
          </p:cNvPicPr>
          <p:nvPr/>
        </p:nvPicPr>
        <p:blipFill>
          <a:blip r:embed="rId4"/>
          <a:stretch>
            <a:fillRect/>
          </a:stretch>
        </p:blipFill>
        <p:spPr>
          <a:xfrm>
            <a:off x="3500430" y="357166"/>
            <a:ext cx="2643206" cy="1127618"/>
          </a:xfrm>
          <a:prstGeom prst="rect">
            <a:avLst/>
          </a:prstGeom>
        </p:spPr>
      </p:pic>
      <p:pic>
        <p:nvPicPr>
          <p:cNvPr id="1032" name="Picture 8" descr="Introduction to Java Programming - Software Testing">
            <a:extLst>
              <a:ext uri="{FF2B5EF4-FFF2-40B4-BE49-F238E27FC236}">
                <a16:creationId xmlns:a16="http://schemas.microsoft.com/office/drawing/2014/main" xmlns="" id="{39A7782A-4B9D-45A9-BD77-65E34FEE926B}"/>
              </a:ext>
            </a:extLst>
          </p:cNvPr>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2928926" y="3573016"/>
            <a:ext cx="3443274" cy="187220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9729D4-FD01-4CAB-9374-9FBACB032F24}"/>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Content</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2B63ABD-BD1A-4BB6-8489-BE8FB7F58DB3}"/>
              </a:ext>
            </a:extLst>
          </p:cNvPr>
          <p:cNvSpPr>
            <a:spLocks noGrp="1"/>
          </p:cNvSpPr>
          <p:nvPr>
            <p:ph idx="1"/>
          </p:nvPr>
        </p:nvSpPr>
        <p:spPr>
          <a:xfrm>
            <a:off x="457200" y="1408113"/>
            <a:ext cx="8229600" cy="4525963"/>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About Organization &amp; Course</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Tools</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Introduction To Java</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Features of Java</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OOPs Concept </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Project</a:t>
            </a:r>
            <a:r>
              <a:rPr lang="en-US" sz="2800" dirty="0" smtClean="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Certificate                              </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3FE9EC3E-FF79-4C23-B8BA-100E192AF917}"/>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804248" y="92077"/>
            <a:ext cx="2314972" cy="888652"/>
          </a:xfrm>
          <a:prstGeom prst="rect">
            <a:avLst/>
          </a:prstGeom>
        </p:spPr>
      </p:pic>
      <p:pic>
        <p:nvPicPr>
          <p:cNvPr id="8" name="Picture 2" descr="Oracle Announces Java 16">
            <a:extLst>
              <a:ext uri="{FF2B5EF4-FFF2-40B4-BE49-F238E27FC236}">
                <a16:creationId xmlns:a16="http://schemas.microsoft.com/office/drawing/2014/main" xmlns="" id="{FA650EA1-5C02-4F04-8C7B-B96F459E667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228184" y="5219003"/>
            <a:ext cx="2755032" cy="15567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05777213"/>
      </p:ext>
    </p:extLst>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8F89F7-B75E-4A76-960C-916C1B331C22}"/>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About Organization &amp; Course </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577B59F-0690-4093-AF7C-460341D9A4A9}"/>
              </a:ext>
            </a:extLst>
          </p:cNvPr>
          <p:cNvSpPr>
            <a:spLocks noGrp="1"/>
          </p:cNvSpPr>
          <p:nvPr>
            <p:ph idx="1"/>
          </p:nvPr>
        </p:nvSpPr>
        <p:spPr>
          <a:xfrm>
            <a:off x="457200" y="1600199"/>
            <a:ext cx="8229600" cy="5165723"/>
          </a:xfrm>
        </p:spPr>
        <p:txBody>
          <a:bodyPr>
            <a:normAutofit/>
          </a:bodyPr>
          <a:lstStyle/>
          <a:p>
            <a:pPr marL="0" indent="0" algn="l" rtl="0">
              <a:buNone/>
            </a:pPr>
            <a:r>
              <a:rPr lang="en-US" sz="2800" b="0" i="0" dirty="0">
                <a:solidFill>
                  <a:srgbClr val="282829"/>
                </a:solidFill>
                <a:effectLst/>
                <a:latin typeface="Times New Roman" panose="02020603050405020304" pitchFamily="18" charset="0"/>
                <a:cs typeface="Times New Roman" panose="02020603050405020304" pitchFamily="18" charset="0"/>
              </a:rPr>
              <a:t>My captain is a learning platform which provides various courses in live mentorships and opportunity for paid internship. The mentors are really friendly and amazing. They provides you personal guidance.</a:t>
            </a:r>
          </a:p>
          <a:p>
            <a:pPr marL="0" indent="0" algn="l" rtl="0">
              <a:buNone/>
            </a:pPr>
            <a:r>
              <a:rPr lang="en-US" sz="2800" b="0" i="0" dirty="0">
                <a:solidFill>
                  <a:srgbClr val="282829"/>
                </a:solidFill>
                <a:effectLst/>
                <a:latin typeface="Times New Roman" panose="02020603050405020304" pitchFamily="18" charset="0"/>
                <a:cs typeface="Times New Roman" panose="02020603050405020304" pitchFamily="18" charset="0"/>
              </a:rPr>
              <a:t>Their workshops are also affordable Compared to others. The quality of workshops are amazing. It also help student to take first step in the field of passion.</a:t>
            </a:r>
          </a:p>
          <a:p>
            <a:pPr marL="0" indent="0" algn="l" rtl="0">
              <a:buNone/>
            </a:pPr>
            <a:endParaRPr lang="en-US" sz="2800" dirty="0">
              <a:solidFill>
                <a:srgbClr val="282829"/>
              </a:solidFill>
              <a:latin typeface="Times New Roman" panose="02020603050405020304" pitchFamily="18" charset="0"/>
              <a:cs typeface="Times New Roman" panose="02020603050405020304" pitchFamily="18" charset="0"/>
            </a:endParaRPr>
          </a:p>
          <a:p>
            <a:pPr marL="0" indent="0" algn="l" rtl="0">
              <a:buNone/>
            </a:pPr>
            <a:r>
              <a:rPr lang="en-US" sz="2400" dirty="0">
                <a:solidFill>
                  <a:srgbClr val="282829"/>
                </a:solidFill>
                <a:latin typeface="Times New Roman" panose="02020603050405020304" pitchFamily="18" charset="0"/>
                <a:cs typeface="Times New Roman" panose="02020603050405020304" pitchFamily="18" charset="0"/>
              </a:rPr>
              <a:t>Course Done – Java Programming Language (June 2021)</a:t>
            </a:r>
          </a:p>
          <a:p>
            <a:pPr marL="0" indent="0" algn="l" rtl="0">
              <a:buNone/>
            </a:pPr>
            <a:endParaRPr lang="en-US" sz="2400" b="0" i="0" dirty="0">
              <a:solidFill>
                <a:srgbClr val="282829"/>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95D19ADB-124F-4DAE-834D-EDCAB08A2292}"/>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092280" y="92077"/>
            <a:ext cx="2047502" cy="585153"/>
          </a:xfrm>
          <a:prstGeom prst="rect">
            <a:avLst/>
          </a:prstGeom>
        </p:spPr>
      </p:pic>
      <p:pic>
        <p:nvPicPr>
          <p:cNvPr id="6" name="Picture 2" descr="Oracle Announces Java 16">
            <a:extLst>
              <a:ext uri="{FF2B5EF4-FFF2-40B4-BE49-F238E27FC236}">
                <a16:creationId xmlns:a16="http://schemas.microsoft.com/office/drawing/2014/main" xmlns="" id="{F6151612-0827-4C88-9492-D46B426C540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4168" y="5600700"/>
            <a:ext cx="2808312" cy="12573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80371873"/>
      </p:ext>
    </p:extLst>
  </p:cSld>
  <p:clrMapOvr>
    <a:masterClrMapping/>
  </p:clrMapOvr>
  <p:transition>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58C5AB-6897-4BA4-99FE-30F9735A00DB}"/>
              </a:ext>
            </a:extLst>
          </p:cNvPr>
          <p:cNvSpPr>
            <a:spLocks noGrp="1"/>
          </p:cNvSpPr>
          <p:nvPr>
            <p:ph type="title"/>
          </p:nvPr>
        </p:nvSpPr>
        <p:spPr/>
        <p:txBody>
          <a:bodyPr/>
          <a:lstStyle/>
          <a:p>
            <a:r>
              <a:rPr lang="en-US" b="1" u="sng" dirty="0"/>
              <a:t>Tools </a:t>
            </a:r>
            <a:endParaRPr lang="en-IN" b="1" u="sng" dirty="0"/>
          </a:p>
        </p:txBody>
      </p:sp>
      <p:sp>
        <p:nvSpPr>
          <p:cNvPr id="3" name="Content Placeholder 2">
            <a:extLst>
              <a:ext uri="{FF2B5EF4-FFF2-40B4-BE49-F238E27FC236}">
                <a16:creationId xmlns:a16="http://schemas.microsoft.com/office/drawing/2014/main" xmlns="" id="{72F3A7E4-CDE1-40D4-B9A4-33B8B9074624}"/>
              </a:ext>
            </a:extLst>
          </p:cNvPr>
          <p:cNvSpPr>
            <a:spLocks noGrp="1"/>
          </p:cNvSpPr>
          <p:nvPr>
            <p:ph idx="1"/>
          </p:nvPr>
        </p:nvSpPr>
        <p:spPr/>
        <p:txBody>
          <a:bodyPr>
            <a:normAutofit/>
          </a:bodyPr>
          <a:lstStyle/>
          <a:p>
            <a:pPr marL="0" indent="0">
              <a:buNone/>
            </a:pPr>
            <a:r>
              <a:rPr lang="en-US" sz="2400" b="1" dirty="0" smtClean="0"/>
              <a:t>Eclipse</a:t>
            </a:r>
            <a:endParaRPr lang="en-US" sz="2400" b="1" dirty="0"/>
          </a:p>
          <a:p>
            <a:r>
              <a:rPr lang="en-US" sz="2400" dirty="0" smtClean="0"/>
              <a:t>Eclipse is an </a:t>
            </a:r>
            <a:r>
              <a:rPr lang="en-US" sz="2400" b="1" dirty="0" smtClean="0"/>
              <a:t>integrated development environment (IDE) for Java</a:t>
            </a:r>
            <a:r>
              <a:rPr lang="en-US" sz="2400" dirty="0" smtClean="0"/>
              <a:t> and other programming languages like C, C++, PHP, and Ruby etc. Development environment provided by Eclipse includes the Eclipse Java development tools (JDT) for Java, Eclipse CDT for C/C++, and Eclipse PDT for PHP, among others.</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431D4D5B-FF2C-42D2-88C6-AEEE58E294C8}"/>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48264" y="92077"/>
            <a:ext cx="2191518" cy="816643"/>
          </a:xfrm>
          <a:prstGeom prst="rect">
            <a:avLst/>
          </a:prstGeom>
        </p:spPr>
      </p:pic>
      <p:pic>
        <p:nvPicPr>
          <p:cNvPr id="8" name="Picture 2" descr="Oracle Announces Java 16">
            <a:extLst>
              <a:ext uri="{FF2B5EF4-FFF2-40B4-BE49-F238E27FC236}">
                <a16:creationId xmlns:a16="http://schemas.microsoft.com/office/drawing/2014/main" xmlns="" id="{D52649BC-E233-4ECE-86FB-23692A7223B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4168" y="5600700"/>
            <a:ext cx="2808312" cy="1257300"/>
          </a:xfrm>
          <a:prstGeom prst="rect">
            <a:avLst/>
          </a:prstGeom>
          <a:noFill/>
          <a:extLst>
            <a:ext uri="{909E8E84-426E-40DD-AFC4-6F175D3DCCD1}">
              <a14:hiddenFill xmlns:a14="http://schemas.microsoft.com/office/drawing/2010/main" xmlns="">
                <a:solidFill>
                  <a:srgbClr val="FFFFFF"/>
                </a:solidFill>
              </a14:hiddenFill>
            </a:ext>
          </a:extLst>
        </p:spPr>
      </p:pic>
      <p:pic>
        <p:nvPicPr>
          <p:cNvPr id="11266" name="Picture 2" descr="The Eclipse development kit arrives with its new version 4.9 | Linux Addicts"/>
          <p:cNvPicPr>
            <a:picLocks noChangeAspect="1" noChangeArrowheads="1"/>
          </p:cNvPicPr>
          <p:nvPr/>
        </p:nvPicPr>
        <p:blipFill>
          <a:blip r:embed="rId4"/>
          <a:srcRect/>
          <a:stretch>
            <a:fillRect/>
          </a:stretch>
        </p:blipFill>
        <p:spPr bwMode="auto">
          <a:xfrm>
            <a:off x="0" y="285728"/>
            <a:ext cx="3643306" cy="1357322"/>
          </a:xfrm>
          <a:prstGeom prst="rect">
            <a:avLst/>
          </a:prstGeom>
          <a:noFill/>
        </p:spPr>
      </p:pic>
    </p:spTree>
    <p:extLst>
      <p:ext uri="{BB962C8B-B14F-4D97-AF65-F5344CB8AC3E}">
        <p14:creationId xmlns:p14="http://schemas.microsoft.com/office/powerpoint/2010/main" xmlns="" val="3161503321"/>
      </p:ext>
    </p:extLst>
  </p:cSld>
  <p:clrMapOvr>
    <a:masterClrMapping/>
  </p:clrMapOvr>
  <p:transition>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7C89F4-B0FC-475A-8227-92839F55E368}"/>
              </a:ext>
            </a:extLst>
          </p:cNvPr>
          <p:cNvSpPr>
            <a:spLocks noGrp="1"/>
          </p:cNvSpPr>
          <p:nvPr>
            <p:ph type="title"/>
          </p:nvPr>
        </p:nvSpPr>
        <p:spPr/>
        <p:txBody>
          <a:bodyPr/>
          <a:lstStyle/>
          <a:p>
            <a:r>
              <a:rPr lang="en-US" b="1" u="sng" dirty="0"/>
              <a:t>Introduction To Java</a:t>
            </a:r>
            <a:endParaRPr lang="en-IN" b="1" u="sng" dirty="0"/>
          </a:p>
        </p:txBody>
      </p:sp>
      <p:sp>
        <p:nvSpPr>
          <p:cNvPr id="3" name="Content Placeholder 2">
            <a:extLst>
              <a:ext uri="{FF2B5EF4-FFF2-40B4-BE49-F238E27FC236}">
                <a16:creationId xmlns:a16="http://schemas.microsoft.com/office/drawing/2014/main" xmlns="" id="{26A82D6F-C2CF-43BD-AA98-7A20DF288A03}"/>
              </a:ext>
            </a:extLst>
          </p:cNvPr>
          <p:cNvSpPr>
            <a:spLocks noGrp="1"/>
          </p:cNvSpPr>
          <p:nvPr>
            <p:ph idx="1"/>
          </p:nvPr>
        </p:nvSpPr>
        <p:spPr>
          <a:xfrm>
            <a:off x="457200" y="1417638"/>
            <a:ext cx="8229600" cy="4274343"/>
          </a:xfrm>
        </p:spPr>
        <p:txBody>
          <a:bodyPr>
            <a:normAutofit lnSpcReduction="10000"/>
          </a:bodyPr>
          <a:lstStyle/>
          <a:p>
            <a:pPr algn="just" fontAlgn="base"/>
            <a:r>
              <a:rPr lang="en-US" sz="2400" b="1" i="0" dirty="0">
                <a:effectLst/>
                <a:latin typeface="Times New Roman" panose="02020603050405020304" pitchFamily="18" charset="0"/>
                <a:cs typeface="Times New Roman" panose="02020603050405020304" pitchFamily="18" charset="0"/>
              </a:rPr>
              <a:t>JAVA</a:t>
            </a:r>
            <a:r>
              <a:rPr lang="en-US" sz="2400" b="0" i="0" dirty="0">
                <a:effectLst/>
                <a:latin typeface="Times New Roman" panose="02020603050405020304" pitchFamily="18" charset="0"/>
                <a:cs typeface="Times New Roman" panose="02020603050405020304" pitchFamily="18" charset="0"/>
              </a:rPr>
              <a:t> was developed by James Gosling at </a:t>
            </a:r>
            <a:r>
              <a:rPr lang="en-US" sz="2400" b="1" i="0" dirty="0">
                <a:effectLst/>
                <a:latin typeface="Times New Roman" panose="02020603050405020304" pitchFamily="18" charset="0"/>
                <a:cs typeface="Times New Roman" panose="02020603050405020304" pitchFamily="18" charset="0"/>
              </a:rPr>
              <a:t>Sun Microsystems</a:t>
            </a:r>
            <a:r>
              <a:rPr lang="en-US" sz="2400" b="0" i="0" u="sng" dirty="0">
                <a:effectLst/>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Inc in the year </a:t>
            </a:r>
            <a:r>
              <a:rPr lang="en-US" sz="2400" b="1" i="0" dirty="0">
                <a:effectLst/>
                <a:latin typeface="Times New Roman" panose="02020603050405020304" pitchFamily="18" charset="0"/>
                <a:cs typeface="Times New Roman" panose="02020603050405020304" pitchFamily="18" charset="0"/>
              </a:rPr>
              <a:t>1991</a:t>
            </a:r>
            <a:r>
              <a:rPr lang="en-US" sz="2400" b="0" i="0" dirty="0">
                <a:effectLst/>
                <a:latin typeface="Times New Roman" panose="02020603050405020304" pitchFamily="18" charset="0"/>
                <a:cs typeface="Times New Roman" panose="02020603050405020304" pitchFamily="18" charset="0"/>
              </a:rPr>
              <a:t>, later acquired by Oracle Corporation. It is a simple programming language. Java makes writing, compiling, and debugging programming easy. It helps to create reusable code and modular programs.</a:t>
            </a:r>
          </a:p>
          <a:p>
            <a:pPr algn="just" fontAlgn="base"/>
            <a:r>
              <a:rPr lang="en-US" sz="2400" b="0" i="0" dirty="0">
                <a:effectLst/>
                <a:latin typeface="Times New Roman" panose="02020603050405020304" pitchFamily="18" charset="0"/>
                <a:cs typeface="Times New Roman" panose="02020603050405020304" pitchFamily="18" charset="0"/>
              </a:rPr>
              <a:t>Java is a class-based, object-oriented programming language and is designed to have as few implementation dependencies as possible. A general-purpose programming language made for developers to </a:t>
            </a:r>
            <a:r>
              <a:rPr lang="en-US" sz="2400" b="0" i="1" dirty="0">
                <a:effectLst/>
                <a:latin typeface="Times New Roman" panose="02020603050405020304" pitchFamily="18" charset="0"/>
                <a:cs typeface="Times New Roman" panose="02020603050405020304" pitchFamily="18" charset="0"/>
              </a:rPr>
              <a:t>write once run anywhere</a:t>
            </a:r>
            <a:r>
              <a:rPr lang="en-US" sz="2400" b="0" i="0" dirty="0">
                <a:effectLst/>
                <a:latin typeface="Times New Roman" panose="02020603050405020304" pitchFamily="18" charset="0"/>
                <a:cs typeface="Times New Roman" panose="02020603050405020304" pitchFamily="18" charset="0"/>
              </a:rPr>
              <a:t> that is compiled Java code can run on all platforms that support Java. Java applications are compiled to byte code that can run on any Java Virtual Machine. The syntax of Java is similar to c/c++.</a:t>
            </a:r>
          </a:p>
          <a:p>
            <a:pPr marL="0" indent="0">
              <a:buNone/>
            </a:pPr>
            <a:endParaRPr lang="en-US" sz="2400" i="0" dirty="0">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5" name="Picture 2" descr="Oracle Announces Java 16">
            <a:extLst>
              <a:ext uri="{FF2B5EF4-FFF2-40B4-BE49-F238E27FC236}">
                <a16:creationId xmlns:a16="http://schemas.microsoft.com/office/drawing/2014/main" xmlns="" id="{3A207D14-C15D-4505-831B-75C0FDF8503D}"/>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084168" y="5600700"/>
            <a:ext cx="2808312" cy="1257300"/>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5">
            <a:extLst>
              <a:ext uri="{FF2B5EF4-FFF2-40B4-BE49-F238E27FC236}">
                <a16:creationId xmlns:a16="http://schemas.microsoft.com/office/drawing/2014/main" xmlns="" id="{ED35904C-9098-4765-A1F2-4EFE8DC406F3}"/>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48264" y="92077"/>
            <a:ext cx="2191518" cy="816643"/>
          </a:xfrm>
          <a:prstGeom prst="rect">
            <a:avLst/>
          </a:prstGeom>
        </p:spPr>
      </p:pic>
      <p:pic>
        <p:nvPicPr>
          <p:cNvPr id="7" name="Picture 6">
            <a:extLst>
              <a:ext uri="{FF2B5EF4-FFF2-40B4-BE49-F238E27FC236}">
                <a16:creationId xmlns:a16="http://schemas.microsoft.com/office/drawing/2014/main" xmlns="" id="{2A3F5400-F294-4CD5-8C0C-01E45850866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spTree>
    <p:extLst>
      <p:ext uri="{BB962C8B-B14F-4D97-AF65-F5344CB8AC3E}">
        <p14:creationId xmlns:p14="http://schemas.microsoft.com/office/powerpoint/2010/main" xmlns="" val="3004386990"/>
      </p:ext>
    </p:extLst>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1CBD710A-9596-499C-A4EE-E1E5EED6BC79}"/>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8" name="Picture 2" descr="Oracle Announces Java 16">
            <a:extLst>
              <a:ext uri="{FF2B5EF4-FFF2-40B4-BE49-F238E27FC236}">
                <a16:creationId xmlns:a16="http://schemas.microsoft.com/office/drawing/2014/main" xmlns="" id="{9AE565FE-32AC-4E4E-A0E7-DBD622448DC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pic>
        <p:nvPicPr>
          <p:cNvPr id="9218" name="Picture 2" descr="Java Tutorial - A Complete Comprehensive Guide for Java Beginners -  TechVidvan"/>
          <p:cNvPicPr>
            <a:picLocks noChangeAspect="1" noChangeArrowheads="1"/>
          </p:cNvPicPr>
          <p:nvPr/>
        </p:nvPicPr>
        <p:blipFill>
          <a:blip r:embed="rId4"/>
          <a:srcRect/>
          <a:stretch>
            <a:fillRect/>
          </a:stretch>
        </p:blipFill>
        <p:spPr bwMode="auto">
          <a:xfrm>
            <a:off x="357158" y="642918"/>
            <a:ext cx="8639175" cy="5572164"/>
          </a:xfrm>
          <a:prstGeom prst="rect">
            <a:avLst/>
          </a:prstGeom>
          <a:noFill/>
        </p:spPr>
      </p:pic>
    </p:spTree>
    <p:extLst>
      <p:ext uri="{BB962C8B-B14F-4D97-AF65-F5344CB8AC3E}">
        <p14:creationId xmlns:p14="http://schemas.microsoft.com/office/powerpoint/2010/main" xmlns="" val="1968147268"/>
      </p:ext>
    </p:extLst>
  </p:cSld>
  <p:clrMapOvr>
    <a:masterClrMapping/>
  </p:clrMapOvr>
  <p:transition>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1385E2-40EE-4462-BED9-D3098944A222}"/>
              </a:ext>
            </a:extLst>
          </p:cNvPr>
          <p:cNvSpPr>
            <a:spLocks noGrp="1"/>
          </p:cNvSpPr>
          <p:nvPr>
            <p:ph type="title"/>
          </p:nvPr>
        </p:nvSpPr>
        <p:spPr/>
        <p:txBody>
          <a:bodyPr/>
          <a:lstStyle/>
          <a:p>
            <a:r>
              <a:rPr lang="en-US" b="1" u="sng" dirty="0"/>
              <a:t>OOPs Concept</a:t>
            </a:r>
            <a:endParaRPr lang="en-IN" b="1" u="sng" dirty="0"/>
          </a:p>
        </p:txBody>
      </p:sp>
      <p:pic>
        <p:nvPicPr>
          <p:cNvPr id="4" name="Picture 3">
            <a:extLst>
              <a:ext uri="{FF2B5EF4-FFF2-40B4-BE49-F238E27FC236}">
                <a16:creationId xmlns:a16="http://schemas.microsoft.com/office/drawing/2014/main" xmlns="" id="{9780E15F-0C17-4559-84EE-41097854BF9E}"/>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47564" y="1188294"/>
            <a:ext cx="7848871" cy="4760986"/>
          </a:xfrm>
          <a:prstGeom prst="rect">
            <a:avLst/>
          </a:prstGeom>
        </p:spPr>
      </p:pic>
      <p:pic>
        <p:nvPicPr>
          <p:cNvPr id="5" name="Picture 4">
            <a:extLst>
              <a:ext uri="{FF2B5EF4-FFF2-40B4-BE49-F238E27FC236}">
                <a16:creationId xmlns:a16="http://schemas.microsoft.com/office/drawing/2014/main" xmlns="" id="{DC39D74E-BCE6-4E4F-9CC1-B6DF6B734B06}"/>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7" name="Picture 2" descr="Oracle Announces Java 16">
            <a:extLst>
              <a:ext uri="{FF2B5EF4-FFF2-40B4-BE49-F238E27FC236}">
                <a16:creationId xmlns:a16="http://schemas.microsoft.com/office/drawing/2014/main" xmlns="" id="{4044387A-DEA4-4E81-B00C-FB5538B1629D}"/>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52356103"/>
      </p:ext>
    </p:extLst>
  </p:cSld>
  <p:clrMapOvr>
    <a:masterClrMapping/>
  </p:clrMapOvr>
  <p:transition>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0FF157-A833-49D9-A4F6-8DE7E6D19638}"/>
              </a:ext>
            </a:extLst>
          </p:cNvPr>
          <p:cNvSpPr>
            <a:spLocks noGrp="1"/>
          </p:cNvSpPr>
          <p:nvPr>
            <p:ph type="title"/>
          </p:nvPr>
        </p:nvSpPr>
        <p:spPr/>
        <p:txBody>
          <a:bodyPr/>
          <a:lstStyle/>
          <a:p>
            <a:r>
              <a:rPr lang="en-US" b="1" u="sng" dirty="0"/>
              <a:t>Class vs Object</a:t>
            </a:r>
            <a:endParaRPr lang="en-IN" b="1" u="sng" dirty="0"/>
          </a:p>
        </p:txBody>
      </p:sp>
      <p:sp>
        <p:nvSpPr>
          <p:cNvPr id="3" name="Content Placeholder 2">
            <a:extLst>
              <a:ext uri="{FF2B5EF4-FFF2-40B4-BE49-F238E27FC236}">
                <a16:creationId xmlns:a16="http://schemas.microsoft.com/office/drawing/2014/main" xmlns="" id="{9B78F597-06F3-48C6-9613-C7B3824976F6}"/>
              </a:ext>
            </a:extLst>
          </p:cNvPr>
          <p:cNvSpPr>
            <a:spLocks noGrp="1"/>
          </p:cNvSpPr>
          <p:nvPr>
            <p:ph idx="1"/>
          </p:nvPr>
        </p:nvSpPr>
        <p:spPr>
          <a:xfrm>
            <a:off x="456059" y="1196752"/>
            <a:ext cx="8229600" cy="5257800"/>
          </a:xfrm>
        </p:spPr>
        <p:txBody>
          <a:bodyPr>
            <a:noAutofit/>
          </a:bodyPr>
          <a:lstStyle/>
          <a:p>
            <a:r>
              <a:rPr lang="en-US" sz="2400" b="0" i="0" dirty="0">
                <a:effectLst/>
                <a:latin typeface="Times New Roman" panose="02020603050405020304" pitchFamily="18" charset="0"/>
                <a:cs typeface="Times New Roman" panose="02020603050405020304" pitchFamily="18" charset="0"/>
              </a:rPr>
              <a:t>Class is used as a template for declaring and creating the objects WHEREAS An object is an instance of a class.</a:t>
            </a:r>
          </a:p>
          <a:p>
            <a:r>
              <a:rPr lang="en-US" sz="2400" b="0" i="0" dirty="0">
                <a:effectLst/>
                <a:latin typeface="Times New Roman" panose="02020603050405020304" pitchFamily="18" charset="0"/>
                <a:cs typeface="Times New Roman" panose="02020603050405020304" pitchFamily="18" charset="0"/>
              </a:rPr>
              <a:t>The class has to be declared only once WHEREAS An object is created many times as per requirement.</a:t>
            </a:r>
          </a:p>
          <a:p>
            <a:r>
              <a:rPr lang="en-US" sz="2400" b="0" i="0" dirty="0">
                <a:effectLst/>
                <a:latin typeface="Times New Roman" panose="02020603050405020304" pitchFamily="18" charset="0"/>
                <a:cs typeface="Times New Roman" panose="02020603050405020304" pitchFamily="18" charset="0"/>
              </a:rPr>
              <a:t>A class is a logical entity WHEREAS An object is a physical entity.</a:t>
            </a:r>
          </a:p>
          <a:p>
            <a:r>
              <a:rPr lang="en-US" sz="2400" dirty="0">
                <a:latin typeface="Times New Roman" panose="02020603050405020304" pitchFamily="18" charset="0"/>
                <a:cs typeface="Times New Roman" panose="02020603050405020304" pitchFamily="18" charset="0"/>
              </a:rPr>
              <a:t>Class Example: Bike WHEREAS Object Example : Ducati, Suzuki, Kawasaki</a:t>
            </a:r>
            <a:r>
              <a:rPr lang="en-I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DFDDD89E-A40F-4A0C-A21A-66091D9DE7A3}"/>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233339" y="4445843"/>
            <a:ext cx="4824536" cy="2074242"/>
          </a:xfrm>
          <a:prstGeom prst="rect">
            <a:avLst/>
          </a:prstGeom>
        </p:spPr>
      </p:pic>
      <p:pic>
        <p:nvPicPr>
          <p:cNvPr id="6" name="Picture 5">
            <a:extLst>
              <a:ext uri="{FF2B5EF4-FFF2-40B4-BE49-F238E27FC236}">
                <a16:creationId xmlns:a16="http://schemas.microsoft.com/office/drawing/2014/main" xmlns="" id="{44D0673F-D6B3-4CFD-8479-052E217A0243}"/>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7" name="Picture 2" descr="Oracle Announces Java 16">
            <a:extLst>
              <a:ext uri="{FF2B5EF4-FFF2-40B4-BE49-F238E27FC236}">
                <a16:creationId xmlns:a16="http://schemas.microsoft.com/office/drawing/2014/main" xmlns="" id="{C1F8B8B9-32EE-4E0D-85AC-CBE9183E423E}"/>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95429878"/>
      </p:ext>
    </p:extLst>
  </p:cSld>
  <p:clrMapOvr>
    <a:masterClrMapping/>
  </p:clrMapOvr>
  <p:transition>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FAE898-FA49-454D-BE67-F7CA1688F763}"/>
              </a:ext>
            </a:extLst>
          </p:cNvPr>
          <p:cNvSpPr>
            <a:spLocks noGrp="1"/>
          </p:cNvSpPr>
          <p:nvPr>
            <p:ph type="title"/>
          </p:nvPr>
        </p:nvSpPr>
        <p:spPr/>
        <p:txBody>
          <a:bodyPr/>
          <a:lstStyle/>
          <a:p>
            <a:r>
              <a:rPr lang="en-US" b="1" i="0" u="sng" dirty="0">
                <a:effectLst/>
                <a:latin typeface="Times New Roman" panose="02020603050405020304" pitchFamily="18" charset="0"/>
                <a:cs typeface="Times New Roman" panose="02020603050405020304" pitchFamily="18" charset="0"/>
              </a:rPr>
              <a:t>Polymorphism</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C82B22F-513F-45C1-AB41-A381E913DB1A}"/>
              </a:ext>
            </a:extLst>
          </p:cNvPr>
          <p:cNvSpPr>
            <a:spLocks noGrp="1"/>
          </p:cNvSpPr>
          <p:nvPr>
            <p:ph idx="1"/>
          </p:nvPr>
        </p:nvSpPr>
        <p:spPr>
          <a:xfrm>
            <a:off x="457200" y="1268760"/>
            <a:ext cx="8229600" cy="4983162"/>
          </a:xfrm>
        </p:spPr>
        <p:txBody>
          <a:bodyPr/>
          <a:lstStyle/>
          <a:p>
            <a:r>
              <a:rPr lang="en-US" i="0" dirty="0">
                <a:effectLst/>
                <a:latin typeface="Times New Roman" panose="02020603050405020304" pitchFamily="18" charset="0"/>
                <a:cs typeface="Times New Roman" panose="02020603050405020304" pitchFamily="18" charset="0"/>
              </a:rPr>
              <a:t>Polymorphism </a:t>
            </a:r>
            <a:r>
              <a:rPr lang="en-US" i="0">
                <a:effectLst/>
                <a:latin typeface="Times New Roman" panose="02020603050405020304" pitchFamily="18" charset="0"/>
                <a:cs typeface="Times New Roman" panose="02020603050405020304" pitchFamily="18" charset="0"/>
              </a:rPr>
              <a:t>in Java means</a:t>
            </a:r>
            <a:r>
              <a:rPr lang="en-US" i="0" dirty="0">
                <a:effectLst/>
                <a:latin typeface="Times New Roman" panose="02020603050405020304" pitchFamily="18" charset="0"/>
                <a:cs typeface="Times New Roman" panose="02020603050405020304" pitchFamily="18" charset="0"/>
              </a:rPr>
              <a:t>, the same entity (function or object) behaves differently in different scenarios.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39607A2B-4FB9-4F09-A0D6-25D6F917955E}"/>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7" name="Picture 2" descr="Oracle Announces Java 16">
            <a:extLst>
              <a:ext uri="{FF2B5EF4-FFF2-40B4-BE49-F238E27FC236}">
                <a16:creationId xmlns:a16="http://schemas.microsoft.com/office/drawing/2014/main" xmlns="" id="{1D77D36E-910F-4FF6-B49A-4AB8EFB404C8}"/>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pic>
        <p:nvPicPr>
          <p:cNvPr id="8194" name="Picture 2" descr="Polymorphism In Java | All You Need To Know | Edureka">
            <a:extLst>
              <a:ext uri="{FF2B5EF4-FFF2-40B4-BE49-F238E27FC236}">
                <a16:creationId xmlns:a16="http://schemas.microsoft.com/office/drawing/2014/main" xmlns="" id="{18541C4F-52B4-4B92-9316-9D9C275DDA84}"/>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22363" y="2780928"/>
            <a:ext cx="6185941" cy="331236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90991006"/>
      </p:ext>
    </p:extLst>
  </p:cSld>
  <p:clrMapOvr>
    <a:masterClrMapping/>
  </p:clrMapOvr>
  <p:transition>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7A503-8470-4FC3-8DF8-D3E3934C6E10}"/>
              </a:ext>
            </a:extLst>
          </p:cNvPr>
          <p:cNvSpPr>
            <a:spLocks noGrp="1"/>
          </p:cNvSpPr>
          <p:nvPr>
            <p:ph type="title"/>
          </p:nvPr>
        </p:nvSpPr>
        <p:spPr/>
        <p:txBody>
          <a:bodyPr/>
          <a:lstStyle/>
          <a:p>
            <a:r>
              <a:rPr lang="en-US" b="1" i="0" u="sng" dirty="0">
                <a:effectLst/>
                <a:latin typeface="Times New Roman" panose="02020603050405020304" pitchFamily="18" charset="0"/>
                <a:cs typeface="Times New Roman" panose="02020603050405020304" pitchFamily="18" charset="0"/>
              </a:rPr>
              <a:t>Encapsulation</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A3BFC07-0E21-46C0-9E6E-4CB3B784A3EB}"/>
              </a:ext>
            </a:extLst>
          </p:cNvPr>
          <p:cNvSpPr>
            <a:spLocks noGrp="1"/>
          </p:cNvSpPr>
          <p:nvPr>
            <p:ph idx="1"/>
          </p:nvPr>
        </p:nvSpPr>
        <p:spPr>
          <a:xfrm>
            <a:off x="457199" y="1166018"/>
            <a:ext cx="8229600" cy="4525963"/>
          </a:xfrm>
        </p:spPr>
        <p:txBody>
          <a:bodyPr/>
          <a:lstStyle/>
          <a:p>
            <a:r>
              <a:rPr lang="en-US" b="0" i="0" dirty="0">
                <a:effectLst/>
                <a:latin typeface="Times New Roman" panose="02020603050405020304" pitchFamily="18" charset="0"/>
                <a:cs typeface="Times New Roman" panose="02020603050405020304" pitchFamily="18" charset="0"/>
              </a:rPr>
              <a:t>Encapsulation is a process of combining data members and functions in a single unit called class.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90AE3AC2-3E41-46BC-83DF-2F15EA158E80}"/>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57570" y="2682478"/>
            <a:ext cx="8229601" cy="3024336"/>
          </a:xfrm>
          <a:prstGeom prst="rect">
            <a:avLst/>
          </a:prstGeom>
        </p:spPr>
      </p:pic>
      <p:pic>
        <p:nvPicPr>
          <p:cNvPr id="6" name="Picture 5">
            <a:extLst>
              <a:ext uri="{FF2B5EF4-FFF2-40B4-BE49-F238E27FC236}">
                <a16:creationId xmlns:a16="http://schemas.microsoft.com/office/drawing/2014/main" xmlns="" id="{EFA8E36F-B306-4D0F-B33F-26FD617AF0CC}"/>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7" name="Picture 2" descr="Oracle Announces Java 16">
            <a:extLst>
              <a:ext uri="{FF2B5EF4-FFF2-40B4-BE49-F238E27FC236}">
                <a16:creationId xmlns:a16="http://schemas.microsoft.com/office/drawing/2014/main" xmlns="" id="{49B79F5C-A5E3-4DD2-A10E-2289456737C0}"/>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25992626"/>
      </p:ext>
    </p:extLst>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64B99E-243E-4A19-9656-E4E835574A4E}"/>
              </a:ext>
            </a:extLst>
          </p:cNvPr>
          <p:cNvSpPr>
            <a:spLocks noGrp="1"/>
          </p:cNvSpPr>
          <p:nvPr>
            <p:ph type="title"/>
          </p:nvPr>
        </p:nvSpPr>
        <p:spPr/>
        <p:txBody>
          <a:bodyPr/>
          <a:lstStyle/>
          <a:p>
            <a:r>
              <a:rPr lang="en-US" b="1" u="sng" dirty="0">
                <a:latin typeface="arial" panose="020B0604020202020204" pitchFamily="34" charset="0"/>
              </a:rPr>
              <a:t>A</a:t>
            </a:r>
            <a:r>
              <a:rPr lang="en-US" b="1" i="0" u="sng" dirty="0">
                <a:effectLst/>
                <a:latin typeface="arial" panose="020B0604020202020204" pitchFamily="34" charset="0"/>
              </a:rPr>
              <a:t>bstraction</a:t>
            </a:r>
            <a:endParaRPr lang="en-IN" b="1" u="sng" dirty="0"/>
          </a:p>
        </p:txBody>
      </p:sp>
      <p:sp>
        <p:nvSpPr>
          <p:cNvPr id="3" name="Content Placeholder 2">
            <a:extLst>
              <a:ext uri="{FF2B5EF4-FFF2-40B4-BE49-F238E27FC236}">
                <a16:creationId xmlns:a16="http://schemas.microsoft.com/office/drawing/2014/main" xmlns="" id="{42143E3F-CF2B-4760-8F67-70B9110389CB}"/>
              </a:ext>
            </a:extLst>
          </p:cNvPr>
          <p:cNvSpPr>
            <a:spLocks noGrp="1"/>
          </p:cNvSpPr>
          <p:nvPr>
            <p:ph idx="1"/>
          </p:nvPr>
        </p:nvSpPr>
        <p:spPr>
          <a:xfrm>
            <a:off x="395536" y="1268760"/>
            <a:ext cx="8229600" cy="4525963"/>
          </a:xfrm>
        </p:spPr>
        <p:txBody>
          <a:bodyPr/>
          <a:lstStyle/>
          <a:p>
            <a:r>
              <a:rPr lang="en-US" b="0" i="0" dirty="0">
                <a:effectLst/>
                <a:latin typeface="arial" panose="020B0604020202020204" pitchFamily="34" charset="0"/>
              </a:rPr>
              <a:t>In simple terms, abstraction “displays” only the relevant attributes of objects and “hides” the unnecessary details.</a:t>
            </a:r>
            <a:endParaRPr lang="en-IN" dirty="0"/>
          </a:p>
        </p:txBody>
      </p:sp>
      <p:pic>
        <p:nvPicPr>
          <p:cNvPr id="7" name="Picture 6">
            <a:extLst>
              <a:ext uri="{FF2B5EF4-FFF2-40B4-BE49-F238E27FC236}">
                <a16:creationId xmlns:a16="http://schemas.microsoft.com/office/drawing/2014/main" xmlns="" id="{5F18D004-43D6-4720-8A76-09184454C046}"/>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187624" y="2841732"/>
            <a:ext cx="5832648" cy="2952991"/>
          </a:xfrm>
          <a:prstGeom prst="rect">
            <a:avLst/>
          </a:prstGeom>
        </p:spPr>
      </p:pic>
      <p:pic>
        <p:nvPicPr>
          <p:cNvPr id="5" name="Picture 2" descr="Oracle Announces Java 16">
            <a:extLst>
              <a:ext uri="{FF2B5EF4-FFF2-40B4-BE49-F238E27FC236}">
                <a16:creationId xmlns:a16="http://schemas.microsoft.com/office/drawing/2014/main" xmlns="" id="{28DF9C92-BB2C-471F-A3BD-E35020C5E2A6}"/>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5">
            <a:extLst>
              <a:ext uri="{FF2B5EF4-FFF2-40B4-BE49-F238E27FC236}">
                <a16:creationId xmlns:a16="http://schemas.microsoft.com/office/drawing/2014/main" xmlns="" id="{38FA7FFE-EA8B-4BD6-A386-46656FA1D1B9}"/>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spTree>
    <p:extLst>
      <p:ext uri="{BB962C8B-B14F-4D97-AF65-F5344CB8AC3E}">
        <p14:creationId xmlns:p14="http://schemas.microsoft.com/office/powerpoint/2010/main" xmlns="" val="2259418638"/>
      </p:ext>
    </p:extLst>
  </p:cSld>
  <p:clrMapOvr>
    <a:masterClrMapping/>
  </p:clrMapOvr>
  <p:transition>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77161D-85DE-4202-8352-1E7EA5E86135}"/>
              </a:ext>
            </a:extLst>
          </p:cNvPr>
          <p:cNvSpPr>
            <a:spLocks noGrp="1"/>
          </p:cNvSpPr>
          <p:nvPr>
            <p:ph type="title"/>
          </p:nvPr>
        </p:nvSpPr>
        <p:spPr>
          <a:xfrm>
            <a:off x="457200" y="245143"/>
            <a:ext cx="8229600" cy="1143000"/>
          </a:xfrm>
        </p:spPr>
        <p:txBody>
          <a:bodyPr/>
          <a:lstStyle/>
          <a:p>
            <a:r>
              <a:rPr lang="en-US" b="1" u="sng" dirty="0">
                <a:latin typeface="arial" panose="020B0604020202020204" pitchFamily="34" charset="0"/>
              </a:rPr>
              <a:t>I</a:t>
            </a:r>
            <a:r>
              <a:rPr lang="en-US" b="1" i="0" u="sng" dirty="0">
                <a:effectLst/>
                <a:latin typeface="arial" panose="020B0604020202020204" pitchFamily="34" charset="0"/>
              </a:rPr>
              <a:t>nheritance</a:t>
            </a:r>
            <a:endParaRPr lang="en-IN" b="1" u="sng" dirty="0"/>
          </a:p>
        </p:txBody>
      </p:sp>
      <p:sp>
        <p:nvSpPr>
          <p:cNvPr id="3" name="Content Placeholder 2">
            <a:extLst>
              <a:ext uri="{FF2B5EF4-FFF2-40B4-BE49-F238E27FC236}">
                <a16:creationId xmlns:a16="http://schemas.microsoft.com/office/drawing/2014/main" xmlns="" id="{DE8C1E77-DCFF-4D3A-93AB-CF20C788282C}"/>
              </a:ext>
            </a:extLst>
          </p:cNvPr>
          <p:cNvSpPr>
            <a:spLocks noGrp="1"/>
          </p:cNvSpPr>
          <p:nvPr>
            <p:ph idx="1"/>
          </p:nvPr>
        </p:nvSpPr>
        <p:spPr>
          <a:xfrm>
            <a:off x="429394" y="1157336"/>
            <a:ext cx="8229600" cy="6221055"/>
          </a:xfrm>
        </p:spPr>
        <p:txBody>
          <a:bodyPr/>
          <a:lstStyle/>
          <a:p>
            <a:r>
              <a:rPr lang="en-US" dirty="0">
                <a:latin typeface="arial" panose="020B0604020202020204" pitchFamily="34" charset="0"/>
              </a:rPr>
              <a:t>I</a:t>
            </a:r>
            <a:r>
              <a:rPr lang="en-US" i="0" dirty="0">
                <a:effectLst/>
                <a:latin typeface="arial" panose="020B0604020202020204" pitchFamily="34" charset="0"/>
              </a:rPr>
              <a:t>nheritance is a process in which one object acquires all the properties and behaviors of its parent object automatically.</a:t>
            </a:r>
          </a:p>
          <a:p>
            <a:endParaRPr lang="en-IN" dirty="0"/>
          </a:p>
        </p:txBody>
      </p:sp>
      <p:pic>
        <p:nvPicPr>
          <p:cNvPr id="6" name="Picture 5">
            <a:extLst>
              <a:ext uri="{FF2B5EF4-FFF2-40B4-BE49-F238E27FC236}">
                <a16:creationId xmlns:a16="http://schemas.microsoft.com/office/drawing/2014/main" xmlns="" id="{BE338566-1912-499D-859D-7E087AE4DB52}"/>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5122" name="Picture 2" descr="Inheritance in Java – AUTOMATION TESTING">
            <a:extLst>
              <a:ext uri="{FF2B5EF4-FFF2-40B4-BE49-F238E27FC236}">
                <a16:creationId xmlns:a16="http://schemas.microsoft.com/office/drawing/2014/main" xmlns="" id="{5A4967C3-C725-42F6-BA8F-03896BB602E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347864" y="2924944"/>
            <a:ext cx="2880320" cy="3168352"/>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2" descr="Oracle Announces Java 16">
            <a:extLst>
              <a:ext uri="{FF2B5EF4-FFF2-40B4-BE49-F238E27FC236}">
                <a16:creationId xmlns:a16="http://schemas.microsoft.com/office/drawing/2014/main" xmlns="" id="{5BEA4BA9-0070-493C-A825-B618EBB0472E}"/>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9985411"/>
      </p:ext>
    </p:extLst>
  </p:cSld>
  <p:clrMapOvr>
    <a:masterClrMapping/>
  </p:clrMapOvr>
  <p:transition>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lstStyle/>
          <a:p>
            <a:r>
              <a:rPr lang="en-US" b="1" u="sng" dirty="0" smtClean="0">
                <a:latin typeface="Times New Roman" pitchFamily="18" charset="0"/>
                <a:cs typeface="Times New Roman" pitchFamily="18" charset="0"/>
              </a:rPr>
              <a:t>Project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85860"/>
            <a:ext cx="8229600" cy="4840303"/>
          </a:xfrm>
        </p:spPr>
        <p:txBody>
          <a:bodyPr>
            <a:normAutofit fontScale="55000" lnSpcReduction="20000"/>
          </a:bodyPr>
          <a:lstStyle/>
          <a:p>
            <a:r>
              <a:rPr lang="en-US" sz="3400" dirty="0" smtClean="0">
                <a:latin typeface="Times New Roman" pitchFamily="18" charset="0"/>
                <a:cs typeface="Times New Roman" pitchFamily="18" charset="0"/>
              </a:rPr>
              <a:t>The </a:t>
            </a:r>
            <a:r>
              <a:rPr lang="en-US" sz="3400" dirty="0" smtClean="0">
                <a:latin typeface="Times New Roman" pitchFamily="18" charset="0"/>
                <a:cs typeface="Times New Roman" pitchFamily="18" charset="0"/>
              </a:rPr>
              <a:t>importance </a:t>
            </a:r>
            <a:r>
              <a:rPr lang="en-US" sz="3400" dirty="0" smtClean="0">
                <a:latin typeface="Times New Roman" pitchFamily="18" charset="0"/>
                <a:cs typeface="Times New Roman" pitchFamily="18" charset="0"/>
              </a:rPr>
              <a:t>of placement system is increasing day by day. Thousands of applicants are depending placement cell. But the applicants are facing so many problems. This project is an attempt to minimize the problems of an applicant to find a correct job. If we can make it an online computerized and a mobile alert process it will be so fast and convenient for the </a:t>
            </a:r>
            <a:r>
              <a:rPr lang="en-US" sz="3400" dirty="0" smtClean="0">
                <a:latin typeface="Times New Roman" pitchFamily="18" charset="0"/>
                <a:cs typeface="Times New Roman" pitchFamily="18" charset="0"/>
              </a:rPr>
              <a:t>applicants. Far </a:t>
            </a:r>
            <a:r>
              <a:rPr lang="en-US" sz="3400" dirty="0" smtClean="0">
                <a:latin typeface="Times New Roman" pitchFamily="18" charset="0"/>
                <a:cs typeface="Times New Roman" pitchFamily="18" charset="0"/>
              </a:rPr>
              <a:t>from upsetting matters, however, new technologies have predominantly made life better and considerably easier for most 0people, and so it must be concluded that they should be welcomed.</a:t>
            </a:r>
          </a:p>
          <a:p>
            <a:r>
              <a:rPr lang="en-US" sz="3400" dirty="0" smtClean="0">
                <a:latin typeface="Times New Roman" pitchFamily="18" charset="0"/>
                <a:cs typeface="Times New Roman" pitchFamily="18" charset="0"/>
              </a:rPr>
              <a:t>  Software does not require a dedicated computer and can be run on almost any PC running Windows OS The package includes the MOB JOBS  software and a normal cell phone and data cable. It uses a normal SIM card from a GSM operator with a local mobile number. In functionality it is similar to the four digit short codes but unlike short codes that is billed according to the agreement between the content provider and the service provider and can only be reached from certain networks a long code (Local GSM number) can be accessed from almost anywhere in the world for the price of an Normal SMS depending on location and tariff of the Local GSM operator. Receiving the response is an incoming SMS and is free.</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Home Page</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endParaRPr lang="en-US" dirty="0"/>
          </a:p>
        </p:txBody>
      </p:sp>
      <p:pic>
        <p:nvPicPr>
          <p:cNvPr id="27650" name="Picture 2"/>
          <p:cNvPicPr>
            <a:picLocks noChangeAspect="1" noChangeArrowheads="1"/>
          </p:cNvPicPr>
          <p:nvPr/>
        </p:nvPicPr>
        <p:blipFill>
          <a:blip r:embed="rId2"/>
          <a:srcRect/>
          <a:stretch>
            <a:fillRect/>
          </a:stretch>
        </p:blipFill>
        <p:spPr bwMode="auto">
          <a:xfrm>
            <a:off x="500034" y="1357298"/>
            <a:ext cx="8072494" cy="471490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Login Page</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a:p>
        </p:txBody>
      </p:sp>
      <p:pic>
        <p:nvPicPr>
          <p:cNvPr id="28674" name="Picture 2"/>
          <p:cNvPicPr>
            <a:picLocks noChangeAspect="1" noChangeArrowheads="1"/>
          </p:cNvPicPr>
          <p:nvPr/>
        </p:nvPicPr>
        <p:blipFill>
          <a:blip r:embed="rId2"/>
          <a:srcRect/>
          <a:stretch>
            <a:fillRect/>
          </a:stretch>
        </p:blipFill>
        <p:spPr bwMode="auto">
          <a:xfrm>
            <a:off x="500034" y="1643050"/>
            <a:ext cx="8215370" cy="4357718"/>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Job Search</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a:p>
        </p:txBody>
      </p:sp>
      <p:pic>
        <p:nvPicPr>
          <p:cNvPr id="29698" name="Picture 2"/>
          <p:cNvPicPr>
            <a:picLocks noChangeAspect="1" noChangeArrowheads="1"/>
          </p:cNvPicPr>
          <p:nvPr/>
        </p:nvPicPr>
        <p:blipFill>
          <a:blip r:embed="rId2"/>
          <a:srcRect/>
          <a:stretch>
            <a:fillRect/>
          </a:stretch>
        </p:blipFill>
        <p:spPr bwMode="auto">
          <a:xfrm>
            <a:off x="571472" y="1500174"/>
            <a:ext cx="8143932" cy="464347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Candidate Registration</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dirty="0"/>
          </a:p>
        </p:txBody>
      </p:sp>
      <p:pic>
        <p:nvPicPr>
          <p:cNvPr id="30722" name="Picture 2"/>
          <p:cNvPicPr>
            <a:picLocks noChangeAspect="1" noChangeArrowheads="1"/>
          </p:cNvPicPr>
          <p:nvPr/>
        </p:nvPicPr>
        <p:blipFill>
          <a:blip r:embed="rId2"/>
          <a:srcRect/>
          <a:stretch>
            <a:fillRect/>
          </a:stretch>
        </p:blipFill>
        <p:spPr bwMode="auto">
          <a:xfrm>
            <a:off x="500034" y="1643050"/>
            <a:ext cx="8143932" cy="442915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09BFBB-38BB-42BA-B6D5-BBFDB26D51F4}"/>
              </a:ext>
            </a:extLst>
          </p:cNvPr>
          <p:cNvSpPr>
            <a:spLocks noGrp="1"/>
          </p:cNvSpPr>
          <p:nvPr>
            <p:ph type="title"/>
          </p:nvPr>
        </p:nvSpPr>
        <p:spPr/>
        <p:txBody>
          <a:bodyPr/>
          <a:lstStyle/>
          <a:p>
            <a:r>
              <a:rPr lang="en-US" b="1" u="sng" dirty="0"/>
              <a:t>Certificate</a:t>
            </a:r>
            <a:endParaRPr lang="en-IN" b="1" u="sng" dirty="0"/>
          </a:p>
        </p:txBody>
      </p:sp>
      <p:pic>
        <p:nvPicPr>
          <p:cNvPr id="5" name="Content Placeholder 4">
            <a:extLst>
              <a:ext uri="{FF2B5EF4-FFF2-40B4-BE49-F238E27FC236}">
                <a16:creationId xmlns:a16="http://schemas.microsoft.com/office/drawing/2014/main" xmlns="" id="{493C3B5E-58A5-4B7A-B5A7-D588D9066672}"/>
              </a:ext>
            </a:extLst>
          </p:cNvPr>
          <p:cNvPicPr>
            <a:picLocks noGrp="1" noChangeAspect="1"/>
          </p:cNvPicPr>
          <p:nvPr>
            <p:ph idx="1"/>
          </p:nvPr>
        </p:nvPicPr>
        <p:blipFill>
          <a:blip r:embed="rId2"/>
          <a:stretch>
            <a:fillRect/>
          </a:stretch>
        </p:blipFill>
        <p:spPr>
          <a:xfrm>
            <a:off x="1115616" y="1268760"/>
            <a:ext cx="7056784" cy="4608512"/>
          </a:xfrm>
        </p:spPr>
      </p:pic>
      <p:pic>
        <p:nvPicPr>
          <p:cNvPr id="6" name="Picture 5">
            <a:extLst>
              <a:ext uri="{FF2B5EF4-FFF2-40B4-BE49-F238E27FC236}">
                <a16:creationId xmlns:a16="http://schemas.microsoft.com/office/drawing/2014/main" xmlns="" id="{F39FC4BD-387D-4A70-9642-DBF02C7A146B}"/>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52482" y="0"/>
            <a:ext cx="2191518" cy="816643"/>
          </a:xfrm>
          <a:prstGeom prst="rect">
            <a:avLst/>
          </a:prstGeom>
        </p:spPr>
      </p:pic>
      <p:pic>
        <p:nvPicPr>
          <p:cNvPr id="7" name="Picture 2" descr="Oracle Announces Java 16">
            <a:extLst>
              <a:ext uri="{FF2B5EF4-FFF2-40B4-BE49-F238E27FC236}">
                <a16:creationId xmlns:a16="http://schemas.microsoft.com/office/drawing/2014/main" xmlns="" id="{CA2175C0-42D9-4E56-98B3-635E77DE6BAB}"/>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84168" y="5877272"/>
            <a:ext cx="2808312" cy="98072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55151706"/>
      </p:ext>
    </p:extLst>
  </p:cSld>
  <p:clrMapOvr>
    <a:masterClrMapping/>
  </p:clrMapOvr>
  <p:transition>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a:t>
            </a:r>
            <a:endParaRPr lang="en-US" dirty="0"/>
          </a:p>
        </p:txBody>
      </p:sp>
      <p:sp>
        <p:nvSpPr>
          <p:cNvPr id="3" name="Content Placeholder 2"/>
          <p:cNvSpPr>
            <a:spLocks noGrp="1"/>
          </p:cNvSpPr>
          <p:nvPr>
            <p:ph idx="1"/>
          </p:nvPr>
        </p:nvSpPr>
        <p:spPr/>
        <p:txBody>
          <a:bodyPr/>
          <a:lstStyle/>
          <a:p>
            <a:endParaRPr lang="en-US" dirty="0"/>
          </a:p>
        </p:txBody>
      </p:sp>
      <p:pic>
        <p:nvPicPr>
          <p:cNvPr id="1026" name="Picture 2" descr="What's in a Question? | Writing Together / 'Sgwennu gyda'n Gilydd"/>
          <p:cNvPicPr>
            <a:picLocks noChangeAspect="1" noChangeArrowheads="1"/>
          </p:cNvPicPr>
          <p:nvPr/>
        </p:nvPicPr>
        <p:blipFill>
          <a:blip r:embed="rId2"/>
          <a:srcRect/>
          <a:stretch>
            <a:fillRect/>
          </a:stretch>
        </p:blipFill>
        <p:spPr bwMode="auto">
          <a:xfrm>
            <a:off x="2857488" y="1214422"/>
            <a:ext cx="3857652" cy="4904455"/>
          </a:xfrm>
          <a:prstGeom prst="rect">
            <a:avLst/>
          </a:prstGeom>
          <a:noFill/>
        </p:spPr>
      </p:pic>
    </p:spTree>
  </p:cSld>
  <p:clrMapOvr>
    <a:masterClrMapping/>
  </p:clrMapOvr>
  <p:transition>
    <p:wedg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477</Words>
  <Application>Microsoft Office PowerPoint</Application>
  <PresentationFormat>On-screen Show (4:3)</PresentationFormat>
  <Paragraphs>43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Industrial Training at MyCaptain                                              Presented By:                                                            Yash Agrawal                                           </vt:lpstr>
      <vt:lpstr>Content</vt:lpstr>
      <vt:lpstr>About Organization &amp; Course </vt:lpstr>
      <vt:lpstr>Tools </vt:lpstr>
      <vt:lpstr>Introduction To Java</vt:lpstr>
      <vt:lpstr>Slide 6</vt:lpstr>
      <vt:lpstr>OOPs Concept</vt:lpstr>
      <vt:lpstr>Class vs Object</vt:lpstr>
      <vt:lpstr>Polymorphism</vt:lpstr>
      <vt:lpstr>Encapsulation</vt:lpstr>
      <vt:lpstr>Abstraction</vt:lpstr>
      <vt:lpstr>Inheritance</vt:lpstr>
      <vt:lpstr>Project</vt:lpstr>
      <vt:lpstr>Home Page</vt:lpstr>
      <vt:lpstr>Login Page</vt:lpstr>
      <vt:lpstr>Job Search</vt:lpstr>
      <vt:lpstr>Candidate Registration</vt:lpstr>
      <vt:lpstr>Certificate</vt:lpstr>
      <vt:lpstr>Question?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Karan Singh</dc:creator>
  <cp:lastModifiedBy>System 13</cp:lastModifiedBy>
  <cp:revision>14</cp:revision>
  <dcterms:created xsi:type="dcterms:W3CDTF">2021-12-10T18:54:25Z</dcterms:created>
  <dcterms:modified xsi:type="dcterms:W3CDTF">2021-12-15T07:20:59Z</dcterms:modified>
</cp:coreProperties>
</file>